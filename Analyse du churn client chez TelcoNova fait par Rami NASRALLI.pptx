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rami nasrall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C04509-1A33-4DB6-B190-F0E3273AA627}">
  <a:tblStyle styleId="{07C04509-1A33-4DB6-B190-F0E3273AA62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7-08T16:30:39.982">
    <p:pos x="1991" y="743"/>
    <p:text>Nombre de churners par type de contrat :
Contract
Month-to-month 1655
One year 166
Two year 48
dtype: int64
Nombre total de clients par type de contrat :
Contract
Month-to-month 3875
One year 1473
Two year 1695
dtype: int64
Taux de churn par type de contrat (%):
Contract
Month-to-month 42.71
One year 11.27
Two year 2.83</p:text>
  </p:cm>
  <p:cm authorId="0" idx="2" dt="2025-07-08T16:30:12.124">
    <p:pos x="96" y="743"/>
    <p:text>Coût mensuel moyen :
Clients churners : 74.44 $
Clients fidèles : 61.27 $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2f0b3278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2f0b3278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2f0b3278a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62f0b3278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2f0b3278a_0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2f0b3278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349550" y="752227"/>
            <a:ext cx="8222100" cy="137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600">
                <a:solidFill>
                  <a:schemeClr val="dk1"/>
                </a:solidFill>
              </a:rPr>
              <a:t>Analyse du churn client chez TelcoNova</a:t>
            </a:r>
            <a:endParaRPr sz="3600">
              <a:solidFill>
                <a:schemeClr val="dk1"/>
              </a:solidFill>
            </a:endParaRPr>
          </a:p>
        </p:txBody>
      </p:sp>
      <p:pic>
        <p:nvPicPr>
          <p:cNvPr id="86" name="Google Shape;86;p13" title="Customer churn.png"/>
          <p:cNvPicPr preferRelativeResize="0"/>
          <p:nvPr/>
        </p:nvPicPr>
        <p:blipFill rotWithShape="1">
          <a:blip r:embed="rId3">
            <a:alphaModFix/>
          </a:blip>
          <a:srcRect b="0" l="14224" r="7960" t="8045"/>
          <a:stretch/>
        </p:blipFill>
        <p:spPr>
          <a:xfrm>
            <a:off x="1770800" y="2125925"/>
            <a:ext cx="5602400" cy="21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11025" y="4210925"/>
            <a:ext cx="841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Lien vers le data set: https://www.kaggle.com/datasets/blastchar/telco-customer-churn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58475" y="4642025"/>
            <a:ext cx="185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 Rami NASRALLI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ctrTitle"/>
          </p:nvPr>
        </p:nvSpPr>
        <p:spPr>
          <a:xfrm>
            <a:off x="357275" y="138675"/>
            <a:ext cx="5877900" cy="109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100">
                <a:solidFill>
                  <a:schemeClr val="dk1"/>
                </a:solidFill>
              </a:rPr>
              <a:t>Un quart des clients quittent : pourquoi ?</a:t>
            </a:r>
            <a:endParaRPr sz="3100">
              <a:solidFill>
                <a:schemeClr val="dk1"/>
              </a:solidFill>
            </a:endParaRPr>
          </a:p>
        </p:txBody>
      </p:sp>
      <p:sp>
        <p:nvSpPr>
          <p:cNvPr id="94" name="Google Shape;94;p14"/>
          <p:cNvSpPr txBox="1"/>
          <p:nvPr>
            <p:ph idx="1" type="subTitle"/>
          </p:nvPr>
        </p:nvSpPr>
        <p:spPr>
          <a:xfrm>
            <a:off x="406475" y="1236675"/>
            <a:ext cx="39588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26,6 % de nos clients ont quitté l’opérateur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</a:rPr>
              <a:t>Un taux d’attrition élevé qui impacte nos résultats financiers.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47275" y="3837400"/>
            <a:ext cx="554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6" name="Google Shape;96;p14" title="tes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5275" y="1236675"/>
            <a:ext cx="4680775" cy="37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406475" y="3837400"/>
            <a:ext cx="395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Qui sont ces clients et quelles sont leurs motivations à partir ?</a:t>
            </a:r>
            <a:endParaRPr i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311700" y="4196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900"/>
              <a:t>Contrats courts et coûts élevés favorisent le churn</a:t>
            </a:r>
            <a:endParaRPr sz="2700"/>
          </a:p>
        </p:txBody>
      </p:sp>
      <p:pic>
        <p:nvPicPr>
          <p:cNvPr id="103" name="Google Shape;103;p15" title="Churn par type de contra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9850"/>
            <a:ext cx="3008825" cy="2802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title="Cout mensuel selon chur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1225" y="1179850"/>
            <a:ext cx="2949125" cy="2753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title="Répartition du churn selon l'ancienneté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6050" y="1179850"/>
            <a:ext cx="2870000" cy="28020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3213" y="4134275"/>
            <a:ext cx="2167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80 % des churners sont en contrat “mois par mois”.</a:t>
            </a:r>
            <a:endParaRPr sz="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3552175" y="4190350"/>
            <a:ext cx="2167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Les churners ont un montant moyen plus élevé.</a:t>
            </a:r>
            <a:endParaRPr sz="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6465000" y="4134275"/>
            <a:ext cx="2167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Les nouveaux clients (&lt; 12 mois) sont les plus vulnérables.</a:t>
            </a:r>
            <a:endParaRPr sz="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Pourquoi ces clients partent-ils ?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531675" y="1342700"/>
            <a:ext cx="7676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Les clients sous contrats mensuels testent les services sans engagement. Si le coût ou la valeur perçue ne correspond pas, ils partent.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531675" y="2267375"/>
            <a:ext cx="6097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“Je payais trop cher pour un service instable, alors je suis parti.”</a:t>
            </a:r>
            <a:endParaRPr i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16" title="personne en réfléx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800" y="3097325"/>
            <a:ext cx="3486776" cy="1893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Fidéliser dès les 6 premiers mois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531675" y="1342700"/>
            <a:ext cx="6723300" cy="1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À mettre en place :</a:t>
            </a:r>
            <a:endParaRPr sz="1100"/>
          </a:p>
          <a:p>
            <a:pPr indent="-234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00"/>
              <a:buChar char="●"/>
            </a:pPr>
            <a:r>
              <a:rPr lang="f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Offres incitatives pour nouveaux clients (réductions, bonus services)</a:t>
            </a:r>
            <a:br>
              <a:rPr lang="f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34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f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Formules engagement (6–12 mois) avec avantages clairs (support, sécurité…)</a:t>
            </a:r>
            <a:br>
              <a:rPr lang="f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34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"/>
              <a:buChar char="●"/>
            </a:pPr>
            <a:r>
              <a:rPr lang="f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Suivi de satisfaction très tôt (sondages automatisés, appels)</a:t>
            </a:r>
            <a:endParaRPr sz="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406450" y="3665650"/>
            <a:ext cx="6097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Comment aligner notre tarification et nos services avec les attentes des clients à risque ?</a:t>
            </a:r>
            <a:endParaRPr i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4" name="Google Shape;124;p17" title="Solu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0975" y="1464125"/>
            <a:ext cx="2350200" cy="2215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Google Shape;129;p18"/>
          <p:cNvGraphicFramePr/>
          <p:nvPr/>
        </p:nvGraphicFramePr>
        <p:xfrm>
          <a:off x="157400" y="1232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{07C04509-1A33-4DB6-B190-F0E3273AA627}</a:tableStyleId>
              </a:tblPr>
              <a:tblGrid>
                <a:gridCol w="1251900"/>
                <a:gridCol w="2741000"/>
                <a:gridCol w="1528625"/>
                <a:gridCol w="3307675"/>
              </a:tblGrid>
              <a:tr h="362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Colonne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Colonne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customerID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Identifiant unique du client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Contract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de contrat (mensuel, annuel, etc.)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gender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Sexe du client (Male/Female)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PaperlessBilling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Facturation électronique ?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SeniorCitizen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Client senior (1 = Oui, 0 = Non)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PaymentMethod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Méthode de paiement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Partner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Vit en couple ?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MonthlyCharges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Montant mensuel facturé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Dependents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des personnes à charge ?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TotalCharges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facturé au client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tenure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Ancienneté du client (mois)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Churn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quitté l’opérateur ? (Yes/No)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50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PhoneService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un service téléphonique ?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InternetService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 d’accès internet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MultipleLines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plusieurs lignes ?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OnlineSecurity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Sécurité en ligne activée ?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50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OnlineBackup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Sauvegarde en ligne ?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DeviceProtection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Protection des appareils ?</a:t>
                      </a:r>
                      <a:endParaRPr sz="10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0" name="Google Shape;130;p18"/>
          <p:cNvSpPr txBox="1"/>
          <p:nvPr/>
        </p:nvSpPr>
        <p:spPr>
          <a:xfrm>
            <a:off x="1799275" y="89875"/>
            <a:ext cx="54015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Aperçu</a:t>
            </a:r>
            <a:r>
              <a:rPr lang="fr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sur les colonnes de la date set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